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Time (ms) vs Thread Count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kv_hash_map</c:v>
                </c:pt>
              </c:strCache>
            </c:strRef>
          </c:tx>
          <c:spPr>
            <a:solidFill>
              <a:srgbClr val="3A7BD5"/>
            </a:solidFill>
            <a:ln w="38100" cap="flat">
              <a:solidFill>
                <a:srgbClr val="3A7BD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7BD5"/>
              </a:solidFill>
              <a:ln w="9525" cap="flat">
                <a:solidFill>
                  <a:srgbClr val="3A7BD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38.08</c:v>
                </c:pt>
                <c:pt idx="1">
                  <c:v>78.21</c:v>
                </c:pt>
                <c:pt idx="2">
                  <c:v>137.58</c:v>
                </c:pt>
                <c:pt idx="3">
                  <c:v>272.56</c:v>
                </c:pt>
                <c:pt idx="4">
                  <c:v>329.74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mutex&lt;unordered_map&gt;</c:v>
                </c:pt>
              </c:strCache>
            </c:strRef>
          </c:tx>
          <c:spPr>
            <a:solidFill>
              <a:srgbClr val="E74C3C"/>
            </a:solidFill>
            <a:ln w="38100" cap="flat">
              <a:solidFill>
                <a:srgbClr val="E74C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15.5</c:v>
                </c:pt>
                <c:pt idx="1">
                  <c:v>47.01</c:v>
                </c:pt>
                <c:pt idx="2">
                  <c:v>107.13</c:v>
                </c:pt>
                <c:pt idx="3">
                  <c:v>301.12</c:v>
                </c:pt>
                <c:pt idx="4">
                  <c:v>460.56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team and project title. This is a systems-level project implementing a high-performance, thread-safe hash map and hash set for multi-core environments.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std::unordered_map + global mutex is the default approach but becomes a performance bottleneck. At high thread counts, threads spend more time waiting for the lock than doing useful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why this problem is worth solving now. Modern hardware is parallel; software needs to catch up. This project is motivated by real systems like Redis and TBB.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gives a high-level view of the library structure. Emphasize: header-only (easy to adopt), C++20 modern idioms, and full OpenMP parallelism.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feature card. Emphasize that fine-grained locking and single-lookup update are the two most impactful features for concurrent workloads.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architecture: array of bucket chains, divided into segments with one mutex per segment. Rehash takes an exclusive lock on all segments to safely migrate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threads fan out: each computes the hash independently, then acquires only the one segment mutex it needs. This is why multiple threads can operate simultaneously without contention (unless on the same segment).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rehash process is safe because it takes an exclusive lock on ALL segments first. Parallel rehashing with OpenMP means even rehash is fast — O(n/threads) average work per thread.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insight is thread-local accumulation. Each thread writes only to its own slot in the thread_values array — no shared state, no locks during the map phase. The reduce phase is sequential but cheap since it merges only n_threads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benchmark environment. Mixed read/write workload with 200K key range ensures significant contention on the data structure, representative of real caching workloads.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crossover at 8 threads. Below that, kv_hash_map has higher overhead (more segments, more atomic operations). Above it, the fine-grained locking pays off by eliminating contention.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clearly shows the inflection point around 8 threads. The mutex-based map grows faster because lock contention grows super-linearly — every new thread must serialize through the single global 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analytical heart of the presentation. Explain WHY the crossover happens using Amdahl's law intuition: the serial fraction (lock wait) dominates at high threads for global mutex, but shrinks for segment locking.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table to show that kv_hash_map is strictly better for multi-threaded scenarios. The only trade-off is slight overhead at low thread counts, which is acceptable in systems designed for high concurrency.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use case back to the benchmark. Emphasize that the 1.40x speedup at 10 threads directly translates to 40% more throughput in these real-world scenarios.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limitations — reviewers appreciate intellectual honesty. The stop-the-world rehash is the most significant, and it's a known trade-off in most hash map implementations.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directions that would turn this research prototype into a production-grade library. Lock-free design and non-blocking rehash are the highest-value improvements.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confidence. Emphasize that this is not just a toy — it's a scalable, tested library that solves a real problem. The benchmark numbers validate the architectural choices.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Performance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132588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Cache for Multi-Core Systems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2194560"/>
            <a:ext cx="8412480" cy="36576"/>
          </a:xfrm>
          <a:prstGeom prst="rect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4231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Deepak Sai Challa   (U23AI080)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Ingle            (U23AI062)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Atharva Katke         (U23AI096)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 Parmar          (U23AI087)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Systems Project  |  C++20  |  OpenMP  |  Multi-Core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applications are increasingly concurrent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std::unordered_map is NOT thread-safe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with a global mutex creates a serialization bottleneck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thread can access the map at a time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degrades as thread count increases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cores remain underutilized despite available parallelism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960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4630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High-throughput services (web servers, caches) are throttled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suffer latency spikes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databases fail to leverage multi-core hardware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shows 1.40x degradation at 10 threads with global lock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743200" cy="109728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2412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Multi-Core Hardware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627632"/>
            <a:ext cx="2523744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CPUs have 8–128 cores. Software must exploit them — a single-threaded bottleneck wastes 90%+ of compute capacity.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68680"/>
            <a:ext cx="2743200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102412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Data Structures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10128" y="1627632"/>
            <a:ext cx="2523744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(Intel TBB, Java ConcurrentHashMap) shows fine-grained locking delivers near-linear scaling. We apply this to C++20.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86868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868680"/>
            <a:ext cx="2743200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102412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Demand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36208" y="1627632"/>
            <a:ext cx="2523744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Redis, Memcached, and high-frequency trading systems all require low-latency, concurrent hash maps. A C++ native solution fills this gap.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header-only C++20 library: kv_hash_map &amp; kv_hash_set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4160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concurrent access via segment-level shared_mutex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rehashing and clearing via OpenMP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map-reduce with pluggable reducers (sum, max, min)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Single-lookup get-and-set (no double hash computation)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Concepts-constrained API (C++20) — type-safe and expressive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0" y="1325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Components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737360"/>
            <a:ext cx="40233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kv_hash_map&lt;K,V&gt;  — hash map with set/get/unset/apply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kv_hash_set&lt;K&gt;    — hash set with add/remove/apply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reducer.h         — composable reducer functions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Header-only        — include and compile, no build setup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Test suite  — unit + stress tests included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26280" y="1325880"/>
            <a:ext cx="36576" cy="3520440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Locking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partitioned into segments. Each segment gets its own shared_mutex — reads never block reads, writes only block their segment.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72968" y="82296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10128" y="9144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10128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Parallelism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169164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Rehash, clear, and map-reduce operations run in parallel across all available hardware threads using #pragma omp parallel for.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17336" y="82296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54496" y="9144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54496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Single-Lookup Update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54496" y="169164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set(key, fn) computes the hash once, acquires the lock once, and applies the update in-place. No double lookup overhead.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8600" y="292608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0175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" y="3429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Bucket Sizing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79476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counts are always prime numbers, minimizing hash collisions and distributing keys uniformly across segments.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172968" y="292608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10128" y="30175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310128" y="3429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Map-Reduce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10128" y="379476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Thread-local accumulators avoid shared state during reduction. Final merge step combines per-thread results.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17336" y="292608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54496" y="30175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54496" y="3429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Rehashing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54496" y="379476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factor monitoring triggers parallel rehash automatically. Capacity doubles with prime selection to maintain O(1) amortized ops.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46888" y="795528"/>
            <a:ext cx="2267712" cy="694944"/>
          </a:xfrm>
          <a:prstGeom prst="rect">
            <a:avLst/>
          </a:prstGeom>
          <a:solidFill>
            <a:srgbClr val="EEF6FF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6888" y="1527048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0  (shared_mutex)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478024" y="795528"/>
            <a:ext cx="2267712" cy="694944"/>
          </a:xfrm>
          <a:prstGeom prst="rect">
            <a:avLst/>
          </a:prstGeom>
          <a:solidFill>
            <a:srgbClr val="FFF8EE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78024" y="1527048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1  (shared_mutex)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795528"/>
            <a:ext cx="2267712" cy="694944"/>
          </a:xfrm>
          <a:prstGeom prst="rect">
            <a:avLst/>
          </a:prstGeom>
          <a:solidFill>
            <a:srgbClr val="F0FFF4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527048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2  (shared_mutex)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868680"/>
            <a:ext cx="10058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868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11155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node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435608" y="868680"/>
            <a:ext cx="10058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35608" y="868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35608" y="11155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51176" y="868680"/>
            <a:ext cx="10058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51176" y="868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51176" y="11155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node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66744" y="868680"/>
            <a:ext cx="10058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66744" y="868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66744" y="11155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node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82312" y="868680"/>
            <a:ext cx="10058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868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82312" y="11155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node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97880" y="868680"/>
            <a:ext cx="10058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868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97880" y="11155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node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435608" y="2075688"/>
            <a:ext cx="914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35608" y="207568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key0|val0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350008" y="2075688"/>
            <a:ext cx="164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7BD5"/>
                </a:solidFill>
              </a:rPr>
              <a:t>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14600" y="2075688"/>
            <a:ext cx="914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14600" y="207568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key1|val1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29000" y="2075688"/>
            <a:ext cx="164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7BD5"/>
                </a:solidFill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593592" y="2075688"/>
            <a:ext cx="914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93592" y="207568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key2|val2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344168" y="25328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(chaining) — Bucket 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938528" y="1417320"/>
            <a:ext cx="0" cy="658368"/>
          </a:xfrm>
          <a:prstGeom prst="line">
            <a:avLst/>
          </a:prstGeom>
          <a:noFill/>
          <a:ln w="19050">
            <a:solidFill>
              <a:srgbClr val="3A7BD5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6858000" y="868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58000" y="1298448"/>
            <a:ext cx="20116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chaining to handle collisions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n_segments = n_threads × 7 (tunable)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Rehash locks all segments atomically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use shared locks (parallel reads OK)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use unique lock on one segment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Working — Concurrency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280160" cy="5029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325880"/>
            <a:ext cx="0" cy="411480"/>
          </a:xfrm>
          <a:prstGeom prst="line">
            <a:avLst/>
          </a:prstGeom>
          <a:noFill/>
          <a:ln w="19050">
            <a:solidFill>
              <a:srgbClr val="3A7B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83080" y="822960"/>
            <a:ext cx="1280160" cy="5029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8229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23160" y="1325880"/>
            <a:ext cx="0" cy="411480"/>
          </a:xfrm>
          <a:prstGeom prst="line">
            <a:avLst/>
          </a:prstGeom>
          <a:noFill/>
          <a:ln w="19050">
            <a:solidFill>
              <a:srgbClr val="3A7B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822960"/>
            <a:ext cx="1280160" cy="5029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8229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931920" y="1325880"/>
            <a:ext cx="0" cy="411480"/>
          </a:xfrm>
          <a:prstGeom prst="line">
            <a:avLst/>
          </a:prstGeom>
          <a:noFill/>
          <a:ln w="19050">
            <a:solidFill>
              <a:srgbClr val="3A7B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822960"/>
            <a:ext cx="1280160" cy="5029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8229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40680" y="1325880"/>
            <a:ext cx="0" cy="411480"/>
          </a:xfrm>
          <a:prstGeom prst="line">
            <a:avLst/>
          </a:prstGeom>
          <a:noFill/>
          <a:ln w="19050">
            <a:solidFill>
              <a:srgbClr val="3A7B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783080"/>
            <a:ext cx="128016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783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hash(key)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bid, sid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14400" y="2240280"/>
            <a:ext cx="0" cy="365760"/>
          </a:xfrm>
          <a:prstGeom prst="line">
            <a:avLst/>
          </a:prstGeom>
          <a:noFill/>
          <a:ln w="19050">
            <a:solidFill>
              <a:srgbClr val="3A7B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83080" y="1783080"/>
            <a:ext cx="128016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83080" y="1783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hash(key)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bid, sid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23160" y="2240280"/>
            <a:ext cx="0" cy="365760"/>
          </a:xfrm>
          <a:prstGeom prst="line">
            <a:avLst/>
          </a:prstGeom>
          <a:noFill/>
          <a:ln w="19050">
            <a:solidFill>
              <a:srgbClr val="3A7B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1783080"/>
            <a:ext cx="128016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1783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hash(key)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bid, sid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931920" y="2240280"/>
            <a:ext cx="0" cy="365760"/>
          </a:xfrm>
          <a:prstGeom prst="line">
            <a:avLst/>
          </a:prstGeom>
          <a:noFill/>
          <a:ln w="19050">
            <a:solidFill>
              <a:srgbClr val="3A7B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1783080"/>
            <a:ext cx="128016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783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hash(key)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bid, sid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40680" y="2240280"/>
            <a:ext cx="0" cy="365760"/>
          </a:xfrm>
          <a:prstGeom prst="line">
            <a:avLst/>
          </a:prstGeom>
          <a:noFill/>
          <a:ln w="19050">
            <a:solidFill>
              <a:srgbClr val="3A7B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679192"/>
            <a:ext cx="22860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67919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0 — shared_mutex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08960" y="2679192"/>
            <a:ext cx="22860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267919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1 — shared_mutex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760720" y="2679192"/>
            <a:ext cx="22860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267919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2 — shared_mutex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3429000"/>
            <a:ext cx="1188720" cy="457200"/>
          </a:xfrm>
          <a:prstGeom prst="rect">
            <a:avLst/>
          </a:prstGeom>
          <a:solidFill>
            <a:srgbClr val="EEF2FA"/>
          </a:solidFill>
          <a:ln w="12700">
            <a:solidFill>
              <a:srgbClr val="AABB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4290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755648" y="3429000"/>
            <a:ext cx="1188720" cy="457200"/>
          </a:xfrm>
          <a:prstGeom prst="rect">
            <a:avLst/>
          </a:prstGeom>
          <a:solidFill>
            <a:srgbClr val="EEF2FA"/>
          </a:solidFill>
          <a:ln w="12700">
            <a:solidFill>
              <a:srgbClr val="AABB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55648" y="34290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145536" y="3429000"/>
            <a:ext cx="1188720" cy="457200"/>
          </a:xfrm>
          <a:prstGeom prst="rect">
            <a:avLst/>
          </a:prstGeom>
          <a:solidFill>
            <a:srgbClr val="EEF2FA"/>
          </a:solidFill>
          <a:ln w="12700">
            <a:solidFill>
              <a:srgbClr val="AABB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45536" y="34290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35424" y="3429000"/>
            <a:ext cx="1188720" cy="457200"/>
          </a:xfrm>
          <a:prstGeom prst="rect">
            <a:avLst/>
          </a:prstGeom>
          <a:solidFill>
            <a:srgbClr val="EEF2FA"/>
          </a:solidFill>
          <a:ln w="12700">
            <a:solidFill>
              <a:srgbClr val="AABB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35424" y="34290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3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25312" y="3429000"/>
            <a:ext cx="1188720" cy="457200"/>
          </a:xfrm>
          <a:prstGeom prst="rect">
            <a:avLst/>
          </a:prstGeom>
          <a:solidFill>
            <a:srgbClr val="EEF2FA"/>
          </a:solidFill>
          <a:ln w="12700">
            <a:solidFill>
              <a:srgbClr val="AABB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25312" y="34290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4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315200" y="3429000"/>
            <a:ext cx="1188720" cy="457200"/>
          </a:xfrm>
          <a:prstGeom prst="rect">
            <a:avLst/>
          </a:prstGeom>
          <a:solidFill>
            <a:srgbClr val="EEF2FA"/>
          </a:solidFill>
          <a:ln w="12700">
            <a:solidFill>
              <a:srgbClr val="AABB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0" y="34290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760" y="3977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Array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583680" y="804672"/>
            <a:ext cx="23774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20840" y="89611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 Rules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720840" y="1325880"/>
            <a:ext cx="21031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→ shared lock (concurrent OK)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→ exclusive lock (one writer/segment)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Rehash → lock ALL segments at once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 bucket count change after lock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Working — Rehashing Strategy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914400" cy="54864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Trigger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80160" y="868680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868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n_keys ≥ n_buckets × max_load_factor (default 1.0)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" y="1417320"/>
            <a:ext cx="0" cy="256032"/>
          </a:xfrm>
          <a:prstGeom prst="line">
            <a:avLst/>
          </a:prstGeom>
          <a:noFill/>
          <a:ln w="19050">
            <a:solidFill>
              <a:srgbClr val="3A7B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673352"/>
            <a:ext cx="914400" cy="54864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7335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Lock All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80160" y="1673352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167335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segment mutexes acquired (exclusive). Map frozen.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" y="2221992"/>
            <a:ext cx="0" cy="256032"/>
          </a:xfrm>
          <a:prstGeom prst="line">
            <a:avLst/>
          </a:prstGeom>
          <a:noFill/>
          <a:ln w="19050">
            <a:solidFill>
              <a:srgbClr val="3A7B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478024"/>
            <a:ext cx="914400" cy="54864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478024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New Buckets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80160" y="2478024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2478024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vector with next prime bucket count (e.g. 11→17→29…)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9808" y="3026664"/>
            <a:ext cx="0" cy="256032"/>
          </a:xfrm>
          <a:prstGeom prst="line">
            <a:avLst/>
          </a:prstGeom>
          <a:noFill/>
          <a:ln w="19050">
            <a:solidFill>
              <a:srgbClr val="3A7B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282696"/>
            <a:ext cx="914400" cy="54864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282696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Parallel Move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0160" y="3282696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328269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#pragma omp parallel for across old buckets. Each node moved to new bucket via: bid = hash(key) % new_n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808" y="3831336"/>
            <a:ext cx="0" cy="256032"/>
          </a:xfrm>
          <a:prstGeom prst="line">
            <a:avLst/>
          </a:prstGeom>
          <a:noFill/>
          <a:ln w="19050">
            <a:solidFill>
              <a:srgbClr val="3A7B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087368"/>
            <a:ext cx="914400" cy="54864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0873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Swap &amp; Unlock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280160" y="4087368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17320" y="408736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vector replaced atomically. All locks released.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0" y="868680"/>
            <a:ext cx="2057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9326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Sizes Used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49440" y="1371600"/>
            <a:ext cx="1828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79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211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337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547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887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1433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Map-Reduce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Parallel Map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1280160" cy="5029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9844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801368"/>
            <a:ext cx="0" cy="320040"/>
          </a:xfrm>
          <a:prstGeom prst="line">
            <a:avLst/>
          </a:prstGeom>
          <a:noFill/>
          <a:ln w="19050">
            <a:solidFill>
              <a:srgbClr val="3A7B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121408"/>
            <a:ext cx="1280160" cy="457200"/>
          </a:xfrm>
          <a:prstGeom prst="rect">
            <a:avLst/>
          </a:prstGeom>
          <a:solidFill>
            <a:srgbClr val="EEF2FA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12140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local_val[t]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 mapper(k,v)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783080" y="1298448"/>
            <a:ext cx="1280160" cy="5029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129844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1801368"/>
            <a:ext cx="0" cy="320040"/>
          </a:xfrm>
          <a:prstGeom prst="line">
            <a:avLst/>
          </a:prstGeom>
          <a:noFill/>
          <a:ln w="19050">
            <a:solidFill>
              <a:srgbClr val="3A7B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2121408"/>
            <a:ext cx="1280160" cy="457200"/>
          </a:xfrm>
          <a:prstGeom prst="rect">
            <a:avLst/>
          </a:prstGeom>
          <a:solidFill>
            <a:srgbClr val="EEF2FA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3080" y="212140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local_val[t]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 mapper(k,v)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91840" y="1298448"/>
            <a:ext cx="1280160" cy="5029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29844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31920" y="1801368"/>
            <a:ext cx="0" cy="320040"/>
          </a:xfrm>
          <a:prstGeom prst="line">
            <a:avLst/>
          </a:prstGeom>
          <a:noFill/>
          <a:ln w="19050">
            <a:solidFill>
              <a:srgbClr val="3A7B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2121408"/>
            <a:ext cx="1280160" cy="457200"/>
          </a:xfrm>
          <a:prstGeom prst="rect">
            <a:avLst/>
          </a:prstGeom>
          <a:solidFill>
            <a:srgbClr val="EEF2FA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12140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local_val[t]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 mapper(k,v)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00600" y="1298448"/>
            <a:ext cx="1280160" cy="5029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29844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40680" y="1801368"/>
            <a:ext cx="0" cy="320040"/>
          </a:xfrm>
          <a:prstGeom prst="line">
            <a:avLst/>
          </a:prstGeom>
          <a:noFill/>
          <a:ln w="19050">
            <a:solidFill>
              <a:srgbClr val="3A7B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2121408"/>
            <a:ext cx="1280160" cy="457200"/>
          </a:xfrm>
          <a:prstGeom prst="rect">
            <a:avLst/>
          </a:prstGeom>
          <a:solidFill>
            <a:srgbClr val="EEF2FA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12140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local_val[t]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 mapper(k,v)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2670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thread accumulates into its own thread_values[tid] — zero contention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Sequential Reduce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4320" y="3493008"/>
            <a:ext cx="1280160" cy="457200"/>
          </a:xfrm>
          <a:prstGeom prst="rect">
            <a:avLst/>
          </a:prstGeom>
          <a:solidFill>
            <a:srgbClr val="EEF2FA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49300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val[0]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14400" y="3950208"/>
            <a:ext cx="0" cy="320040"/>
          </a:xfrm>
          <a:prstGeom prst="line">
            <a:avLst/>
          </a:prstGeom>
          <a:noFill/>
          <a:ln w="19050">
            <a:solidFill>
              <a:srgbClr val="2ECC7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83080" y="3493008"/>
            <a:ext cx="1280160" cy="457200"/>
          </a:xfrm>
          <a:prstGeom prst="rect">
            <a:avLst/>
          </a:prstGeom>
          <a:solidFill>
            <a:srgbClr val="EEF2FA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83080" y="349300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val[1]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423160" y="3950208"/>
            <a:ext cx="0" cy="320040"/>
          </a:xfrm>
          <a:prstGeom prst="line">
            <a:avLst/>
          </a:prstGeom>
          <a:noFill/>
          <a:ln w="19050">
            <a:solidFill>
              <a:srgbClr val="2ECC7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0" y="3493008"/>
            <a:ext cx="1280160" cy="457200"/>
          </a:xfrm>
          <a:prstGeom prst="rect">
            <a:avLst/>
          </a:prstGeom>
          <a:solidFill>
            <a:srgbClr val="EEF2FA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349300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val[2]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931920" y="3950208"/>
            <a:ext cx="0" cy="320040"/>
          </a:xfrm>
          <a:prstGeom prst="line">
            <a:avLst/>
          </a:prstGeom>
          <a:noFill/>
          <a:ln w="19050">
            <a:solidFill>
              <a:srgbClr val="2ECC7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3493008"/>
            <a:ext cx="1280160" cy="457200"/>
          </a:xfrm>
          <a:prstGeom prst="rect">
            <a:avLst/>
          </a:prstGeom>
          <a:solidFill>
            <a:srgbClr val="EEF2FA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49300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val[3]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40680" y="3950208"/>
            <a:ext cx="0" cy="320040"/>
          </a:xfrm>
          <a:prstGeom prst="line">
            <a:avLst/>
          </a:prstGeom>
          <a:noFill/>
          <a:ln w="19050">
            <a:solidFill>
              <a:srgbClr val="2ECC7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51760" y="4270248"/>
            <a:ext cx="1463040" cy="5029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51760" y="427024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858000" y="804672"/>
            <a:ext cx="2057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0" y="8961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Reducers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49440" y="1371600"/>
            <a:ext cx="1828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reducer::sum&lt;T&gt;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t1 += t2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reducer::max&lt;T&gt;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if t1 &lt; t2: t1 = t2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reducer::min&lt;T&gt;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if t1 &gt; t2: t1 = t2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Setup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 ops / thread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54680" y="8686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54680" y="9601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🔑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46120" y="1554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Range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1874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200,000 unique keys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8686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9601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💻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1554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874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M-series, 10 cores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29718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🔧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65760" y="3566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886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Clang 15+, C++20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154680" y="288036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54680" y="29718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246120" y="3566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46120" y="3886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OpenMP, 1–10 threads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35040" y="288036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35040" y="29718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🆚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126480" y="3566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3886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mutex&lt;unordered_map&gt;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Results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822960"/>
          <a:ext cx="7315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2560320"/>
                <a:gridCol w="1280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kv_hash_map (ms)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mutex&lt;unordered_map&gt; (ms)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137.58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107.13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272.56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301.12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329.74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460.56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kv_hash_map outperforms the global-mutex baseline at 8+ threads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Results — Visual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9436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46520" y="804672"/>
            <a:ext cx="2468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37960" y="896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37960" y="1335024"/>
            <a:ext cx="22402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cross between 4 and 8 threads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kv_hash_map scales more slowly — less steep rise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 map spikes sharply at 8–10 threads (contention)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kv_hash_map gap grows with thread count → scalable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914400" cy="11430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41248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Thread Count (1–4)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25880" y="841248"/>
            <a:ext cx="7543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932688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dominates. Segment-level locking requires more atomic operations, segment computation, and memory indirection vs a single global mutex. The baseline is simpler and faster at low concurrency.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212848"/>
            <a:ext cx="914400" cy="11430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212848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 at 8 Threads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25880" y="2212848"/>
            <a:ext cx="7543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2304288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mutex becomes a bottleneck. Threads now spend more time waiting for the global lock than executing. kv_hash_map threads find their segment free more often.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584448"/>
            <a:ext cx="914400" cy="11430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584448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Thread Count (8–10)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25880" y="3584448"/>
            <a:ext cx="7543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3675888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kv_hash_map outperforms by 1.1×–1.4×. With N segments &gt;&gt; N threads, each thread hits a different segment with high probability. Near-zero contention vs total serialization with global lock.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224528"/>
            <a:ext cx="8595360" cy="594360"/>
          </a:xfrm>
          <a:prstGeom prst="rect">
            <a:avLst/>
          </a:prstGeom>
          <a:solidFill>
            <a:srgbClr val="EEF6FF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At 10 threads: kv_hash_map uses 329 ms vs 460 ms — 28% less time, 1.40× speedup. The advantage grows with thread count.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Existing Approaches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2926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kv_hash_map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mutex&lt;unordered_map&gt;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879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 Safety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Yes (segment lock)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Yes (global lock)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Concurrency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Parallel reads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Serialized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Concurrency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Per-segment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Serialized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Improves with threads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Degrades with threads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Map-Reduce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Built-in parallel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Manual / external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Rehash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Parallel rehash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Sequential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Header-Only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STL + wrapper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Low-Thread Perf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Slight overhead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Better at 1–4 threads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Can Be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Caches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Redis-like key-value stores benefit from parallel reads. kv_hash_map's shared_mutex allows N concurrent readers — ideal for cache-heavy workloads.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914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91840" y="1417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75564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HTTP request runs in its own thread. Session maps, routing tables, and rate-limiters all need concurrent access. Segment locking prevents hotspot serialization.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914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17920" y="1417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75564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pipelines aggregate events from N data streams simultaneously. map_reduce with reducer::sum enables parallel accumulation without manual synchronization.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417320" y="260604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17320" y="2697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3200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Databases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08760" y="353872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workloads scan millions of keys with filters. The map_reduce abstraction parallelizes scans automatically across all CPU cores.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43400" y="260604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43400" y="2697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34840" y="3200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Multi-Threaded Backends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34840" y="353872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that maintain shared state (counters, locks, queues) across request threads benefit from the fine-grained locking with no code changes needed.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4320" y="441655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thread count increases, this system performs better — ideal for high-concurrency production environments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11480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961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Strengths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Near-linear scalability at high thread counts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reader contention — shared_mutex allows concurrent reads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map-reduce with no manual synchronization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Header-only — zero build system changes needed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C++20 concepts enforce type safety at compile time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rehash maintains O(1) amortized operations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04672"/>
            <a:ext cx="41148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8961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Limitations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37160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overhead at 1–4 threads vs simple global lock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support for iteration order guarantees (unordered)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constructor deleted — move-only semantics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Rehash pauses all threads (stop-the-world)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overhead: segment mutex array + linked list nodes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persistence or distributed support (in-memory only)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94360" cy="5029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87552" y="822960"/>
            <a:ext cx="7863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822960"/>
            <a:ext cx="7635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Lock-Free Design — Replace shared_mutex with CAS-based atomic operations (std::atomic) for zero-lock reads and writes. Target: 2–5× throughput improvement.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27048"/>
            <a:ext cx="594360" cy="5029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270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87552" y="1527048"/>
            <a:ext cx="7863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527048"/>
            <a:ext cx="7635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Rehash — Implement incremental migration: rehash in the background while serving operations. Eliminate stop-the-world pauses entirely.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231136"/>
            <a:ext cx="594360" cy="5029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31136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87552" y="2231136"/>
            <a:ext cx="7863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231136"/>
            <a:ext cx="7635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Awareness — Partition segment mutexes and buckets to align with NUMA node topology. Reduce cross-socket memory latency on 32+ core servers.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935224"/>
            <a:ext cx="594360" cy="5029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935224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87552" y="2935224"/>
            <a:ext cx="7863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2935224"/>
            <a:ext cx="7635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Acceleration — Offload map-reduce to CUDA/Metal for embarrassingly parallel scans over large key spaces. Target: 10–100× for analytic workloads.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639312"/>
            <a:ext cx="594360" cy="5029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63931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87552" y="3639312"/>
            <a:ext cx="7863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3639312"/>
            <a:ext cx="7635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— Add optional mmap-backed persistence layer. Survive process restarts without reloading data — enabling Redis-like durability.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343400"/>
            <a:ext cx="594360" cy="5029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34340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87552" y="4343400"/>
            <a:ext cx="7863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4343400"/>
            <a:ext cx="7635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 API — Add thread-safe range iteration for STL compatibility. Enable use with range-for loops and standard algorithms.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8412480" cy="36576"/>
          </a:xfrm>
          <a:prstGeom prst="rect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2588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that fine-grained segment locking outperforms global mutex at 8+ threads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1.40× speedup at 10 threads — advantage grows with core count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production-usable C++20 header-only library with parallel map-reduce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that data structure choice is critical: the right architecture scales, the wrong one serializes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3611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 thread count increases, the system performs better —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multi-core era."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kv_hash_map.h · kv_hash_set.h · reducer.h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Performance Key-Value Cache for Multi-Core Systems</dc:title>
  <dc:subject>PptxGenJS Presentation</dc:subject>
  <dc:creator>Systems Project Team</dc:creator>
  <cp:lastModifiedBy>Systems Project Team</cp:lastModifiedBy>
  <cp:revision>1</cp:revision>
  <dcterms:created xsi:type="dcterms:W3CDTF">2026-04-21T14:25:46Z</dcterms:created>
  <dcterms:modified xsi:type="dcterms:W3CDTF">2026-04-21T14:25:46Z</dcterms:modified>
</cp:coreProperties>
</file>